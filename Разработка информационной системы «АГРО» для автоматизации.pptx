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1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0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6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9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0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90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5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0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46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8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35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45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1852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03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99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742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0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93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10058-262D-B301-4073-85BBEBFA9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287" y="814704"/>
            <a:ext cx="10816069" cy="5079222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Разработка информационной системы для автоматизации производства средств защиты растений</a:t>
            </a:r>
            <a:br>
              <a:rPr lang="en-US" sz="2800" b="1" dirty="0"/>
            </a:br>
            <a:br>
              <a:rPr lang="ru-RU" sz="2800" dirty="0"/>
            </a:br>
            <a:r>
              <a:rPr lang="ru-RU" sz="2800" b="1" dirty="0"/>
              <a:t>Вид практики:</a:t>
            </a:r>
            <a:r>
              <a:rPr lang="ru-RU" sz="2800" dirty="0"/>
              <a:t> Учебная практика</a:t>
            </a:r>
            <a:br>
              <a:rPr lang="en-US" sz="2800" dirty="0"/>
            </a:br>
            <a:br>
              <a:rPr lang="ru-RU" sz="2800" dirty="0"/>
            </a:br>
            <a:r>
              <a:rPr lang="ru-RU" sz="2800" b="1" dirty="0"/>
              <a:t>ПМ 02:</a:t>
            </a:r>
            <a:r>
              <a:rPr lang="ru-RU" sz="2800" dirty="0"/>
              <a:t> Осуществление интеграции программных модулей</a:t>
            </a:r>
            <a:br>
              <a:rPr lang="en-US" sz="2800" dirty="0"/>
            </a:br>
            <a:br>
              <a:rPr lang="ru-RU" sz="2800" dirty="0"/>
            </a:br>
            <a:r>
              <a:rPr lang="ru-RU" sz="2800" b="1" dirty="0"/>
              <a:t>Автор:</a:t>
            </a:r>
            <a:r>
              <a:rPr lang="ru-RU" sz="2800" dirty="0"/>
              <a:t> Баталов </a:t>
            </a:r>
            <a:r>
              <a:rPr lang="ru-RU" sz="2800" dirty="0" err="1"/>
              <a:t>сергей</a:t>
            </a:r>
            <a:br>
              <a:rPr lang="en-US" sz="2800" dirty="0"/>
            </a:br>
            <a:br>
              <a:rPr lang="ru-RU" sz="2800" dirty="0"/>
            </a:br>
            <a:r>
              <a:rPr lang="ru-RU" sz="2800" b="1" dirty="0"/>
              <a:t>Группа:</a:t>
            </a:r>
            <a:r>
              <a:rPr lang="ru-RU" sz="2800" dirty="0"/>
              <a:t> 23П-1</a:t>
            </a:r>
            <a:br>
              <a:rPr lang="ru-RU" sz="2800" dirty="0"/>
            </a:br>
            <a:r>
              <a:rPr lang="ru-RU" sz="2800" b="1" dirty="0"/>
              <a:t>Руководитель:</a:t>
            </a:r>
            <a:r>
              <a:rPr lang="ru-RU" sz="2800" dirty="0"/>
              <a:t> Седов Алексей Сергеевич</a:t>
            </a:r>
            <a:br>
              <a:rPr lang="ru-RU" sz="2800" dirty="0"/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09191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70F1A-DB65-3066-169C-D199AB23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471" y="640080"/>
            <a:ext cx="9465193" cy="5742432"/>
          </a:xfrm>
        </p:spPr>
        <p:txBody>
          <a:bodyPr>
            <a:noAutofit/>
          </a:bodyPr>
          <a:lstStyle/>
          <a:p>
            <a:pPr algn="l"/>
            <a:r>
              <a:rPr lang="ru-RU" sz="2400" dirty="0"/>
              <a:t>Актуальность:</a:t>
            </a:r>
            <a:br>
              <a:rPr lang="ru-RU" sz="2400" dirty="0"/>
            </a:br>
            <a:r>
              <a:rPr lang="ru-RU" sz="2400" dirty="0"/>
              <a:t>- Производство средств защиты растений требует строгого соблюдения рецептур и технологических режимов</a:t>
            </a:r>
            <a:br>
              <a:rPr lang="ru-RU" sz="2400" dirty="0"/>
            </a:br>
            <a:r>
              <a:rPr lang="ru-RU" sz="2400" dirty="0"/>
              <a:t>- Ручная фиксация данных приводит к ошибкам дозирования, потере информации и невозможности оперативного контроля</a:t>
            </a:r>
            <a:br>
              <a:rPr lang="ru-RU" sz="2400" dirty="0"/>
            </a:br>
            <a:r>
              <a:rPr lang="ru-RU" sz="2400" dirty="0"/>
              <a:t>- Отсутствие единой системы не позволяет отследить историю партии и причины отклонений</a:t>
            </a:r>
            <a:br>
              <a:rPr lang="ru-RU" sz="2400" dirty="0"/>
            </a:br>
            <a:r>
              <a:rPr lang="ru-RU" sz="2400" dirty="0"/>
              <a:t>- Разрозненные инструменты у технолога, аппаратчика и лаборанта замедляют производственный цикл</a:t>
            </a:r>
            <a:br>
              <a:rPr lang="ru-RU" sz="2400" dirty="0"/>
            </a:br>
            <a:r>
              <a:rPr lang="ru-RU" sz="2400" dirty="0"/>
              <a:t>Цель:</a:t>
            </a:r>
            <a:br>
              <a:rPr lang="ru-RU" sz="2400" dirty="0"/>
            </a:br>
            <a:r>
              <a:rPr lang="ru-RU" sz="2400" dirty="0"/>
              <a:t>- Разработать информационную систему, объединяющую технолога, аппаратчика и лаборанта в единую цифровую среду для автоматизации всех этапов производства средств защиты растений</a:t>
            </a:r>
          </a:p>
        </p:txBody>
      </p:sp>
    </p:spTree>
    <p:extLst>
      <p:ext uri="{BB962C8B-B14F-4D97-AF65-F5344CB8AC3E}">
        <p14:creationId xmlns:p14="http://schemas.microsoft.com/office/powerpoint/2010/main" val="157993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B4EE5-FC6E-D58F-4F18-31540BD6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993" y="561967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Архитектура ИС «АГРО»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F6D5D3F-1376-61E0-17C8-F9B4CF953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811996"/>
              </p:ext>
            </p:extLst>
          </p:nvPr>
        </p:nvGraphicFramePr>
        <p:xfrm>
          <a:off x="1571993" y="1525901"/>
          <a:ext cx="7162800" cy="144405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20992828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135476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Уровень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Технология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8596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Клиентский (Desktop)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WPF (.NET Framework 4.8)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66193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Серверный (API)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u="sng" dirty="0">
                          <a:effectLst/>
                          <a:hlinkClick r:id="rId2"/>
                        </a:rPr>
                        <a:t>ASP.NET</a:t>
                      </a:r>
                      <a:r>
                        <a:rPr lang="ru-RU" sz="1100" dirty="0">
                          <a:effectLst/>
                        </a:rPr>
                        <a:t> Web API 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878457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Уровень данных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Microsoft SQL Server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470268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09A01CD-BA69-D751-58E4-8982B29D7B00}"/>
              </a:ext>
            </a:extLst>
          </p:cNvPr>
          <p:cNvSpPr txBox="1"/>
          <p:nvPr/>
        </p:nvSpPr>
        <p:spPr>
          <a:xfrm>
            <a:off x="5406044" y="3933889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Contoso.TechnologistApp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.exe] ←→ [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ProductionControl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←→ [БД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ProductionControl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9161EB-0415-683B-58E8-D16F149FE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65" y="3122229"/>
            <a:ext cx="3886742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3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1C61D-4311-93D9-A30E-9944B7738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103" y="304514"/>
            <a:ext cx="9328833" cy="2987326"/>
          </a:xfrm>
        </p:spPr>
        <p:txBody>
          <a:bodyPr>
            <a:noAutofit/>
          </a:bodyPr>
          <a:lstStyle/>
          <a:p>
            <a:r>
              <a:rPr lang="ru-RU" sz="1600" dirty="0"/>
              <a:t>База данных «</a:t>
            </a:r>
            <a:r>
              <a:rPr lang="en-US" sz="1600" dirty="0" err="1"/>
              <a:t>ProductionControl</a:t>
            </a:r>
            <a:r>
              <a:rPr lang="en-US" sz="1600" dirty="0"/>
              <a:t>»</a:t>
            </a:r>
            <a:br>
              <a:rPr lang="en-US" sz="1600" dirty="0"/>
            </a:br>
            <a:br>
              <a:rPr lang="en-US" sz="1600" dirty="0"/>
            </a:br>
            <a:r>
              <a:rPr lang="ru-RU" sz="1600" dirty="0"/>
              <a:t>СУБД: </a:t>
            </a:r>
            <a:r>
              <a:rPr lang="en-US" sz="1600" dirty="0"/>
              <a:t>Microsoft SQL Server</a:t>
            </a:r>
            <a:br>
              <a:rPr lang="en-US" sz="1600" dirty="0"/>
            </a:br>
            <a:r>
              <a:rPr lang="ru-RU" sz="1600" dirty="0"/>
              <a:t>Количество таблиц: 27</a:t>
            </a:r>
            <a:br>
              <a:rPr lang="ru-RU" sz="1600" dirty="0"/>
            </a:br>
            <a:r>
              <a:rPr lang="ru-RU" sz="1600" dirty="0"/>
              <a:t>Созданы уникальные индексы (</a:t>
            </a:r>
            <a:r>
              <a:rPr lang="en-US" sz="1600" dirty="0" err="1"/>
              <a:t>IX_Unique_Active_Recipe</a:t>
            </a:r>
            <a:r>
              <a:rPr lang="en-US" sz="1600" dirty="0"/>
              <a:t>, </a:t>
            </a:r>
            <a:r>
              <a:rPr lang="en-US" sz="1600" dirty="0" err="1"/>
              <a:t>IX_Unique_Active_TechCard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ru-RU" sz="1600" dirty="0"/>
              <a:t>Созданы триггеры (7 шт.):</a:t>
            </a:r>
            <a:br>
              <a:rPr lang="ru-RU" sz="1600" dirty="0"/>
            </a:br>
            <a:r>
              <a:rPr lang="ru-RU" sz="1600" dirty="0"/>
              <a:t>  - Контроль суммы долей = 100%</a:t>
            </a:r>
            <a:br>
              <a:rPr lang="ru-RU" sz="1600" dirty="0"/>
            </a:br>
            <a:r>
              <a:rPr lang="ru-RU" sz="1600" dirty="0"/>
              <a:t>  - Запрет использования заблокированного сырья</a:t>
            </a:r>
            <a:br>
              <a:rPr lang="ru-RU" sz="1600" dirty="0"/>
            </a:br>
            <a:r>
              <a:rPr lang="ru-RU" sz="1600" dirty="0"/>
              <a:t>  - </a:t>
            </a:r>
            <a:r>
              <a:rPr lang="ru-RU" sz="1600" dirty="0" err="1"/>
              <a:t>Автофиксация</a:t>
            </a:r>
            <a:r>
              <a:rPr lang="ru-RU" sz="1600" dirty="0"/>
              <a:t> истории изменений статусов</a:t>
            </a:r>
            <a:br>
              <a:rPr lang="ru-RU" sz="1600" dirty="0"/>
            </a:br>
            <a:r>
              <a:rPr lang="ru-RU" sz="1600" dirty="0"/>
              <a:t>Основные таблицы: </a:t>
            </a:r>
            <a:r>
              <a:rPr lang="en-US" sz="1600" dirty="0"/>
              <a:t>users, products, recipes, </a:t>
            </a:r>
            <a:r>
              <a:rPr lang="en-US" sz="1600" dirty="0" err="1"/>
              <a:t>recipe_components</a:t>
            </a:r>
            <a:r>
              <a:rPr lang="en-US" sz="1600" dirty="0"/>
              <a:t>, </a:t>
            </a:r>
            <a:r>
              <a:rPr lang="en-US" sz="1600" dirty="0" err="1"/>
              <a:t>tech_cards</a:t>
            </a:r>
            <a:r>
              <a:rPr lang="en-US" sz="1600" dirty="0"/>
              <a:t>, </a:t>
            </a:r>
            <a:r>
              <a:rPr lang="en-US" sz="1600" dirty="0" err="1"/>
              <a:t>tech_card_steps</a:t>
            </a:r>
            <a:r>
              <a:rPr lang="en-US" sz="1600" dirty="0"/>
              <a:t>,</a:t>
            </a:r>
            <a:br>
              <a:rPr lang="en-US" sz="1600" dirty="0"/>
            </a:br>
            <a:r>
              <a:rPr lang="en-US" sz="1600" dirty="0"/>
              <a:t>                  </a:t>
            </a:r>
            <a:r>
              <a:rPr lang="en-US" sz="1600" dirty="0" err="1"/>
              <a:t>production_orders</a:t>
            </a:r>
            <a:r>
              <a:rPr lang="en-US" sz="1600" dirty="0"/>
              <a:t>, </a:t>
            </a:r>
            <a:r>
              <a:rPr lang="en-US" sz="1600" dirty="0" err="1"/>
              <a:t>production_batches</a:t>
            </a:r>
            <a:r>
              <a:rPr lang="en-US" sz="1600" dirty="0"/>
              <a:t>, </a:t>
            </a:r>
            <a:r>
              <a:rPr lang="en-US" sz="1600" dirty="0" err="1"/>
              <a:t>batch_step_execution</a:t>
            </a:r>
            <a:r>
              <a:rPr lang="en-US" sz="1600" dirty="0"/>
              <a:t>,</a:t>
            </a:r>
            <a:br>
              <a:rPr lang="en-US" sz="1600" dirty="0"/>
            </a:br>
            <a:r>
              <a:rPr lang="en-US" sz="1600" dirty="0"/>
              <a:t>                  </a:t>
            </a:r>
            <a:r>
              <a:rPr lang="en-US" sz="1600" dirty="0" err="1"/>
              <a:t>quality_tests</a:t>
            </a:r>
            <a:r>
              <a:rPr lang="en-US" sz="1600" dirty="0"/>
              <a:t>, deviations, </a:t>
            </a:r>
            <a:r>
              <a:rPr lang="en-US" sz="1600" dirty="0" err="1"/>
              <a:t>audit_events</a:t>
            </a:r>
            <a:endParaRPr lang="ru-RU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82E751-BF15-70DC-1E07-845C97513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21" y="3479739"/>
            <a:ext cx="1623800" cy="32929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E2B5E8-D6BC-1456-0984-4BA6D7B89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500" y="3429000"/>
            <a:ext cx="4288540" cy="329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9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FF9E1-3B77-8194-FB15-8EA37325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0844"/>
            <a:ext cx="8911687" cy="1280890"/>
          </a:xfrm>
        </p:spPr>
        <p:txBody>
          <a:bodyPr/>
          <a:lstStyle/>
          <a:p>
            <a:r>
              <a:rPr lang="ru-RU" b="1" dirty="0"/>
              <a:t>API сервер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10C327-DFEF-F8E5-708B-143A3DF9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196" y="1644589"/>
            <a:ext cx="3971386" cy="3361678"/>
          </a:xfrm>
        </p:spPr>
        <p:txBody>
          <a:bodyPr/>
          <a:lstStyle/>
          <a:p>
            <a:r>
              <a:rPr lang="en-US" b="1" dirty="0"/>
              <a:t>APIAGRO (</a:t>
            </a:r>
            <a:r>
              <a:rPr lang="en-US" b="1" dirty="0">
                <a:hlinkClick r:id="rId2"/>
              </a:rPr>
              <a:t>ASP.NET</a:t>
            </a:r>
            <a:r>
              <a:rPr lang="en-US" b="1" dirty="0"/>
              <a:t> Web API 2)</a:t>
            </a:r>
            <a:endParaRPr lang="en-US" dirty="0"/>
          </a:p>
          <a:p>
            <a:r>
              <a:rPr lang="en-US" dirty="0"/>
              <a:t>7 </a:t>
            </a:r>
            <a:r>
              <a:rPr lang="ru-RU" dirty="0"/>
              <a:t>контроллеров</a:t>
            </a:r>
          </a:p>
          <a:p>
            <a:r>
              <a:rPr lang="ru-RU" dirty="0"/>
              <a:t>23 </a:t>
            </a:r>
            <a:r>
              <a:rPr lang="en-US" dirty="0"/>
              <a:t>API </a:t>
            </a:r>
            <a:r>
              <a:rPr lang="ru-RU" dirty="0"/>
              <a:t>метода</a:t>
            </a:r>
          </a:p>
          <a:p>
            <a:r>
              <a:rPr lang="ru-RU" dirty="0"/>
              <a:t>Порт: 51734</a:t>
            </a:r>
          </a:p>
          <a:p>
            <a:r>
              <a:rPr lang="ru-RU" dirty="0"/>
              <a:t>Формат: </a:t>
            </a:r>
            <a:r>
              <a:rPr lang="en-US" dirty="0"/>
              <a:t>JSON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BE4C735-D0CA-96A1-695B-4CCA9CFD43AC}"/>
              </a:ext>
            </a:extLst>
          </p:cNvPr>
          <p:cNvSpPr txBox="1">
            <a:spLocks/>
          </p:cNvSpPr>
          <p:nvPr/>
        </p:nvSpPr>
        <p:spPr>
          <a:xfrm>
            <a:off x="5415379" y="1644589"/>
            <a:ext cx="6276512" cy="3361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Контроллер	</a:t>
            </a:r>
            <a:r>
              <a:rPr lang="en-US" b="1" dirty="0"/>
              <a:t>/ </a:t>
            </a:r>
            <a:r>
              <a:rPr lang="ru-RU" b="1" dirty="0"/>
              <a:t>Методы</a:t>
            </a:r>
          </a:p>
          <a:p>
            <a:r>
              <a:rPr lang="en-US" b="1" dirty="0" err="1"/>
              <a:t>AuthController</a:t>
            </a:r>
            <a:r>
              <a:rPr lang="en-US" b="1" dirty="0"/>
              <a:t>	/    Login, Register</a:t>
            </a:r>
          </a:p>
          <a:p>
            <a:r>
              <a:rPr lang="en-US" b="1" dirty="0" err="1"/>
              <a:t>ReferenceController</a:t>
            </a:r>
            <a:r>
              <a:rPr lang="en-US" b="1" dirty="0"/>
              <a:t>	/   CRUD </a:t>
            </a:r>
            <a:r>
              <a:rPr lang="ru-RU" b="1" dirty="0"/>
              <a:t>продуктов</a:t>
            </a:r>
          </a:p>
          <a:p>
            <a:r>
              <a:rPr lang="en-US" b="1" dirty="0"/>
              <a:t>ProductionController	/   </a:t>
            </a:r>
            <a:r>
              <a:rPr lang="ru-RU" b="1" dirty="0"/>
              <a:t>Заказы, партии, шаги</a:t>
            </a:r>
          </a:p>
          <a:p>
            <a:r>
              <a:rPr lang="en-US" b="1" dirty="0" err="1"/>
              <a:t>LabController</a:t>
            </a:r>
            <a:r>
              <a:rPr lang="en-US" b="1" dirty="0"/>
              <a:t>	   /    </a:t>
            </a:r>
            <a:r>
              <a:rPr lang="ru-RU" b="1" dirty="0"/>
              <a:t>Испытания, результаты</a:t>
            </a:r>
          </a:p>
          <a:p>
            <a:r>
              <a:rPr lang="en-US" b="1" dirty="0" err="1"/>
              <a:t>DeviationsController</a:t>
            </a:r>
            <a:r>
              <a:rPr lang="en-US" b="1" dirty="0"/>
              <a:t>  /</a:t>
            </a:r>
            <a:r>
              <a:rPr lang="ru-RU" b="1" dirty="0"/>
              <a:t>Отклонения, уведомления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5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53D605-497C-1867-5F32-BBD100E8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26" y="668468"/>
            <a:ext cx="4669009" cy="55662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Модуль технолога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8C6AF2-D324-8C27-CFAA-E573306F7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678" y="1225089"/>
            <a:ext cx="6007746" cy="3351449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b="1" dirty="0">
                <a:effectLst/>
              </a:rPr>
              <a:t>Авторизация</a:t>
            </a:r>
            <a:r>
              <a:rPr lang="ru-RU" dirty="0">
                <a:effectLst/>
              </a:rPr>
              <a:t> — логин, пароль, капча</a:t>
            </a:r>
          </a:p>
          <a:p>
            <a:r>
              <a:rPr lang="ru-RU" b="1" dirty="0">
                <a:effectLst/>
              </a:rPr>
              <a:t>Дашборд</a:t>
            </a:r>
            <a:r>
              <a:rPr lang="ru-RU" dirty="0">
                <a:effectLst/>
              </a:rPr>
              <a:t> — 7 KPI-карточек, лента событий</a:t>
            </a:r>
          </a:p>
          <a:p>
            <a:r>
              <a:rPr lang="ru-RU" b="1" dirty="0">
                <a:effectLst/>
              </a:rPr>
              <a:t>Продукция</a:t>
            </a:r>
            <a:r>
              <a:rPr lang="ru-RU" dirty="0">
                <a:effectLst/>
              </a:rPr>
              <a:t> — таблица, поиск, карточка продукта</a:t>
            </a:r>
          </a:p>
          <a:p>
            <a:r>
              <a:rPr lang="ru-RU" b="1" dirty="0">
                <a:effectLst/>
              </a:rPr>
              <a:t>Рецептуры</a:t>
            </a:r>
            <a:r>
              <a:rPr lang="ru-RU" dirty="0">
                <a:effectLst/>
              </a:rPr>
              <a:t> — список, фильтры, карточка с компонентами</a:t>
            </a:r>
          </a:p>
          <a:p>
            <a:r>
              <a:rPr lang="ru-RU" b="1" dirty="0" err="1">
                <a:effectLst/>
              </a:rPr>
              <a:t>Техкарты</a:t>
            </a:r>
            <a:r>
              <a:rPr lang="ru-RU" dirty="0">
                <a:effectLst/>
              </a:rPr>
              <a:t> — список, фильтры</a:t>
            </a:r>
          </a:p>
          <a:p>
            <a:r>
              <a:rPr lang="ru-RU" b="1" dirty="0">
                <a:effectLst/>
              </a:rPr>
              <a:t>Заказы</a:t>
            </a:r>
            <a:r>
              <a:rPr lang="ru-RU" dirty="0">
                <a:effectLst/>
              </a:rPr>
              <a:t> — список, фильтры по статусу</a:t>
            </a:r>
          </a:p>
          <a:p>
            <a:r>
              <a:rPr lang="ru-RU" b="1" dirty="0">
                <a:effectLst/>
              </a:rPr>
              <a:t>Партии</a:t>
            </a:r>
            <a:r>
              <a:rPr lang="ru-RU" dirty="0">
                <a:effectLst/>
              </a:rPr>
              <a:t> — список, цветовая индикация</a:t>
            </a:r>
          </a:p>
          <a:p>
            <a:r>
              <a:rPr lang="ru-RU" b="1" dirty="0">
                <a:effectLst/>
              </a:rPr>
              <a:t>Отклонения</a:t>
            </a:r>
            <a:r>
              <a:rPr lang="ru-RU" dirty="0">
                <a:effectLst/>
              </a:rPr>
              <a:t> — список, фильтры по критичности</a:t>
            </a:r>
          </a:p>
          <a:p>
            <a:r>
              <a:rPr lang="ru-RU" b="1" dirty="0">
                <a:effectLst/>
              </a:rPr>
              <a:t>Отчёты</a:t>
            </a:r>
            <a:r>
              <a:rPr lang="ru-RU" dirty="0">
                <a:effectLst/>
              </a:rPr>
              <a:t> — 6 видов отчётов</a:t>
            </a:r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918539-88CA-5C80-5F34-AC6E4CCB3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835" y="491864"/>
            <a:ext cx="2392677" cy="352859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60BEE77-FD50-88FC-EE0A-D679C1308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446" y="4236512"/>
            <a:ext cx="4414876" cy="232930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5B31201-222B-05A6-3BA8-9F3D96206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95" y="4576538"/>
            <a:ext cx="5357240" cy="198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9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9C71E-8495-3E80-35EE-E3D36ECF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792" y="619641"/>
            <a:ext cx="4740030" cy="6542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Модуль лаборанта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F90E84-42F3-2C44-12DC-FBA817803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1273915"/>
            <a:ext cx="6252947" cy="250054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b="1" dirty="0">
                <a:effectLst/>
              </a:rPr>
              <a:t>Авторизация</a:t>
            </a:r>
            <a:r>
              <a:rPr lang="ru-RU" dirty="0">
                <a:effectLst/>
              </a:rPr>
              <a:t> — логин, пароль, капча</a:t>
            </a:r>
          </a:p>
          <a:p>
            <a:r>
              <a:rPr lang="ru-RU" b="1" dirty="0">
                <a:effectLst/>
              </a:rPr>
              <a:t>Партии сырья</a:t>
            </a:r>
            <a:r>
              <a:rPr lang="ru-RU" dirty="0">
                <a:effectLst/>
              </a:rPr>
              <a:t> — очередь на анализ, цветовые статусы</a:t>
            </a:r>
          </a:p>
          <a:p>
            <a:r>
              <a:rPr lang="ru-RU" b="1" dirty="0">
                <a:effectLst/>
              </a:rPr>
              <a:t>Готовая продукция</a:t>
            </a:r>
            <a:r>
              <a:rPr lang="ru-RU" dirty="0">
                <a:effectLst/>
              </a:rPr>
              <a:t> — партии на контроле</a:t>
            </a:r>
          </a:p>
          <a:p>
            <a:r>
              <a:rPr lang="ru-RU" b="1" dirty="0">
                <a:effectLst/>
              </a:rPr>
              <a:t>Испытания</a:t>
            </a:r>
            <a:r>
              <a:rPr lang="ru-RU" dirty="0">
                <a:effectLst/>
              </a:rPr>
              <a:t> — журнал, фильтры, решения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BFB957-E16E-C4DA-B59A-DA599C0D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88" y="521521"/>
            <a:ext cx="2379581" cy="32529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3D0D965-4AFF-EB1D-0DB5-8ED6F354B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3635101"/>
            <a:ext cx="6879336" cy="158726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F7CDBE-12B3-7DD6-9A73-7E29FCD77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133" y="3954080"/>
            <a:ext cx="3672936" cy="273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40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4D0215-F5F4-5646-DA63-83013C43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381" y="646274"/>
            <a:ext cx="5157281" cy="601008"/>
          </a:xfrm>
        </p:spPr>
        <p:txBody>
          <a:bodyPr>
            <a:normAutofit fontScale="90000"/>
          </a:bodyPr>
          <a:lstStyle/>
          <a:p>
            <a:r>
              <a:rPr lang="ru-RU" b="1"/>
              <a:t>Модуль аппаратчика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726244-C9E5-CDD1-CCC1-FF56D563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944" y="1479897"/>
            <a:ext cx="4876908" cy="2509421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Функции:</a:t>
            </a:r>
            <a:endParaRPr lang="ru-RU" dirty="0"/>
          </a:p>
          <a:p>
            <a:r>
              <a:rPr lang="ru-RU" dirty="0"/>
              <a:t>Просмотр активных партий</a:t>
            </a:r>
          </a:p>
          <a:p>
            <a:r>
              <a:rPr lang="ru-RU" dirty="0"/>
              <a:t>Выполнение технологических шагов</a:t>
            </a:r>
          </a:p>
          <a:p>
            <a:r>
              <a:rPr lang="ru-RU" dirty="0"/>
              <a:t>Ввод фактических параметров (температура, давление, время)</a:t>
            </a:r>
          </a:p>
          <a:p>
            <a:r>
              <a:rPr lang="ru-RU" dirty="0"/>
              <a:t>Фиксация отклонений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AA4BFFB-9B9A-AA39-502E-AE70B37A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432" y="414187"/>
            <a:ext cx="2541695" cy="35751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A531A1C-92EC-B6C9-211D-CDA785079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3897122"/>
            <a:ext cx="4498848" cy="176043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EE3040-7797-2DAE-068D-7FD5EA9FF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569" y="3897122"/>
            <a:ext cx="5886105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75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19E6C-09EC-32FD-F971-64C939C2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>
            <a:normAutofit/>
          </a:bodyPr>
          <a:lstStyle/>
          <a:p>
            <a:r>
              <a:rPr lang="ru-RU" b="1" dirty="0"/>
              <a:t> 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40296-E5AE-8295-CA7D-4F5C1F678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Результаты работы:</a:t>
            </a:r>
          </a:p>
          <a:p>
            <a:endParaRPr lang="ru-RU" b="1" dirty="0"/>
          </a:p>
          <a:p>
            <a:r>
              <a:rPr lang="ru-RU" b="1" dirty="0"/>
              <a:t>- Спроектирована и реализована база данных (27 таблиц, 7 триггеров, 3 представления)</a:t>
            </a:r>
          </a:p>
          <a:p>
            <a:r>
              <a:rPr lang="ru-RU" b="1" dirty="0"/>
              <a:t>- Разработан REST API (10 контроллеров, 25+ методов)</a:t>
            </a:r>
          </a:p>
          <a:p>
            <a:r>
              <a:rPr lang="ru-RU" b="1" dirty="0"/>
              <a:t>- Созданы 4 десктоп-приложения (технолог, аппаратчик, лаборант, администратор)</a:t>
            </a:r>
          </a:p>
          <a:p>
            <a:r>
              <a:rPr lang="ru-RU" b="1" dirty="0"/>
              <a:t>- Реализована капча при авторизации во всех модулях</a:t>
            </a:r>
          </a:p>
          <a:p>
            <a:r>
              <a:rPr lang="ru-RU" b="1" dirty="0"/>
              <a:t>- Проведено тестирование: ручное, модульное (10 тестов), интеграционное (14 тестов)</a:t>
            </a:r>
          </a:p>
          <a:p>
            <a:r>
              <a:rPr lang="ru-RU" b="1" dirty="0"/>
              <a:t>- Подготовлена сопроводительная документация (пояснительная записка, руководство оператора, отладка модуля)</a:t>
            </a:r>
          </a:p>
          <a:p>
            <a:r>
              <a:rPr lang="ru-RU" b="1" dirty="0"/>
              <a:t>- Проект выгружен в </a:t>
            </a:r>
            <a:r>
              <a:rPr lang="ru-RU" b="1" dirty="0" err="1"/>
              <a:t>Git</a:t>
            </a:r>
            <a:r>
              <a:rPr lang="ru-RU" b="1" dirty="0"/>
              <a:t>-репозиторий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00454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259</TotalTime>
  <Words>564</Words>
  <Application>Microsoft Office PowerPoint</Application>
  <PresentationFormat>Широкоэкранный</PresentationFormat>
  <Paragraphs>58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Rockwell</vt:lpstr>
      <vt:lpstr>Damask</vt:lpstr>
      <vt:lpstr>Разработка информационной системы для автоматизации производства средств защиты растений  Вид практики: Учебная практика  ПМ 02: Осуществление интеграции программных модулей  Автор: Баталов сергей  Группа: 23П-1 Руководитель: Седов Алексей Сергеевич </vt:lpstr>
      <vt:lpstr>Актуальность: - Производство средств защиты растений требует строгого соблюдения рецептур и технологических режимов - Ручная фиксация данных приводит к ошибкам дозирования, потере информации и невозможности оперативного контроля - Отсутствие единой системы не позволяет отследить историю партии и причины отклонений - Разрозненные инструменты у технолога, аппаратчика и лаборанта замедляют производственный цикл Цель: - Разработать информационную систему, объединяющую технолога, аппаратчика и лаборанта в единую цифровую среду для автоматизации всех этапов производства средств защиты растений</vt:lpstr>
      <vt:lpstr>Архитектура ИС «АГРО» </vt:lpstr>
      <vt:lpstr>База данных «ProductionControl»  СУБД: Microsoft SQL Server Количество таблиц: 27 Созданы уникальные индексы (IX_Unique_Active_Recipe, IX_Unique_Active_TechCard) Созданы триггеры (7 шт.):   - Контроль суммы долей = 100%   - Запрет использования заблокированного сырья   - Автофиксация истории изменений статусов Основные таблицы: users, products, recipes, recipe_components, tech_cards, tech_card_steps,                   production_orders, production_batches, batch_step_execution,                   quality_tests, deviations, audit_events</vt:lpstr>
      <vt:lpstr>API сервер</vt:lpstr>
      <vt:lpstr>Модуль технолога </vt:lpstr>
      <vt:lpstr>Модуль лаборанта </vt:lpstr>
      <vt:lpstr>Модуль аппаратчика</vt:lpstr>
      <vt:lpstr> 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Kab19-12</dc:creator>
  <cp:lastModifiedBy>Kab19-07</cp:lastModifiedBy>
  <cp:revision>3</cp:revision>
  <dcterms:created xsi:type="dcterms:W3CDTF">2026-05-19T05:39:51Z</dcterms:created>
  <dcterms:modified xsi:type="dcterms:W3CDTF">2026-05-19T11:55:18Z</dcterms:modified>
</cp:coreProperties>
</file>